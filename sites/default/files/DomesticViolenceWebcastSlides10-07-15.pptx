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6A47A3-3C98-4382-B7C7-DC7C72E04441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B0E66A-328C-4EAD-BBD2-D326FA268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265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2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 smtClean="0"/>
              <a:t>Refer to Ellen Pence,</a:t>
            </a:r>
          </a:p>
          <a:p>
            <a:endParaRPr lang="en-US" dirty="0" smtClean="0"/>
          </a:p>
          <a:p>
            <a:r>
              <a:rPr lang="en-US" dirty="0" smtClean="0"/>
              <a:t>Any of these tactics can have a workplace related outcome.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For example, economic abuse might be your member doesn’t have bus work to come to work because the abusive partner takes their paycheck</a:t>
            </a:r>
          </a:p>
          <a:p>
            <a:r>
              <a:rPr lang="en-US" dirty="0" smtClean="0"/>
              <a:t>Using the children can mean the member fears leaving the children alone with the abusive partner so she misses work to stay home with them;</a:t>
            </a:r>
          </a:p>
          <a:p>
            <a:r>
              <a:rPr lang="en-US" dirty="0" smtClean="0"/>
              <a:t>Physical violence, which is along the rim – which can be directed toward the partner, pets or values possessions, can result in injuries that requires missed days at work or use of vacations. </a:t>
            </a:r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98818" eaLnBrk="0" hangingPunct="0">
              <a:defRPr sz="1200">
                <a:solidFill>
                  <a:srgbClr val="008000"/>
                </a:solidFill>
                <a:latin typeface="Arial" charset="0"/>
              </a:defRPr>
            </a:lvl1pPr>
            <a:lvl2pPr marL="729024" indent="-280393" defTabSz="898818" eaLnBrk="0" hangingPunct="0">
              <a:defRPr sz="1200">
                <a:solidFill>
                  <a:srgbClr val="008000"/>
                </a:solidFill>
                <a:latin typeface="Arial" charset="0"/>
              </a:defRPr>
            </a:lvl2pPr>
            <a:lvl3pPr marL="1121576" indent="-224315" defTabSz="898818" eaLnBrk="0" hangingPunct="0">
              <a:defRPr sz="1200">
                <a:solidFill>
                  <a:srgbClr val="008000"/>
                </a:solidFill>
                <a:latin typeface="Arial" charset="0"/>
              </a:defRPr>
            </a:lvl3pPr>
            <a:lvl4pPr marL="1570205" indent="-224315" defTabSz="898818" eaLnBrk="0" hangingPunct="0">
              <a:defRPr sz="1200">
                <a:solidFill>
                  <a:srgbClr val="008000"/>
                </a:solidFill>
                <a:latin typeface="Arial" charset="0"/>
              </a:defRPr>
            </a:lvl4pPr>
            <a:lvl5pPr marL="2018836" indent="-224315" defTabSz="898818" eaLnBrk="0" hangingPunct="0">
              <a:defRPr sz="1200">
                <a:solidFill>
                  <a:srgbClr val="008000"/>
                </a:solidFill>
                <a:latin typeface="Arial" charset="0"/>
              </a:defRPr>
            </a:lvl5pPr>
            <a:lvl6pPr marL="2467466" indent="-224315" defTabSz="898818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6pPr>
            <a:lvl7pPr marL="2916095" indent="-224315" defTabSz="898818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7pPr>
            <a:lvl8pPr marL="3364726" indent="-224315" defTabSz="898818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8pPr>
            <a:lvl9pPr marL="3813356" indent="-224315" defTabSz="898818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9pPr>
          </a:lstStyle>
          <a:p>
            <a:fld id="{28C4168A-C0C0-4F80-9ACB-E84C98B41345}" type="slidenum">
              <a:rPr lang="en-US" smtClean="0">
                <a:solidFill>
                  <a:prstClr val="black"/>
                </a:solidFill>
                <a:latin typeface="Times New Roman" pitchFamily="18" charset="0"/>
              </a:rPr>
              <a:pPr/>
              <a:t>2</a:t>
            </a:fld>
            <a:endParaRPr lang="en-US" smtClean="0">
              <a:solidFill>
                <a:prstClr val="black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614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858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4142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833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62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1700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279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17CEF7-B473-4D65-B023-55470A1C27D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62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5308903" cy="310579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95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33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998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31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936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0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610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593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2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9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148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noProof="1" smtClean="0"/>
              <a:t>Click to edit Master title style</a:t>
            </a:r>
            <a:endParaRPr lang="en-US" dirty="0"/>
          </a:p>
        </p:txBody>
      </p:sp>
      <p:sp>
        <p:nvSpPr>
          <p:cNvPr id="12" name="Rectangl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noProof="1" smtClean="0"/>
              <a:t>Click to edit Master text styles</a:t>
            </a:r>
          </a:p>
          <a:p>
            <a:pPr lvl="1"/>
            <a:r>
              <a:rPr lang="en-US" noProof="1" smtClean="0"/>
              <a:t>Second level</a:t>
            </a:r>
          </a:p>
          <a:p>
            <a:pPr lvl="2"/>
            <a:r>
              <a:rPr lang="en-US" noProof="1" smtClean="0"/>
              <a:t>Third level</a:t>
            </a:r>
          </a:p>
          <a:p>
            <a:pPr lvl="3"/>
            <a:r>
              <a:rPr lang="en-US" noProof="1" smtClean="0"/>
              <a:t>Fourth level</a:t>
            </a:r>
          </a:p>
          <a:p>
            <a:pPr lvl="4"/>
            <a:r>
              <a:rPr lang="en-US" noProof="1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3A613-3E44-4024-B458-B895295BA08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10/6/2015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EB69A-F684-40DD-B920-F9A32B60B1EC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65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2.w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19E30-479B-4BA8-8F42-AA6000C33249}" type="datetimeFigureOut">
              <a:rPr lang="en-US" smtClean="0"/>
              <a:t>10/6/2015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CB7AB-F1F3-454B-BD5F-DFA0E68C1322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67209093"/>
              </p:ext>
            </p:extLst>
          </p:nvPr>
        </p:nvGraphicFramePr>
        <p:xfrm>
          <a:off x="5842000" y="0"/>
          <a:ext cx="6340475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Image" r:id="rId15" imgW="6341040" imgH="1270800" progId="Photoshop.Image.11">
                  <p:embed/>
                </p:oleObj>
              </mc:Choice>
              <mc:Fallback>
                <p:oleObj name="Image" r:id="rId15" imgW="6341040" imgH="1270800" progId="Photoshop.Image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842000" y="0"/>
                        <a:ext cx="6340475" cy="127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298336718"/>
              </p:ext>
            </p:extLst>
          </p:nvPr>
        </p:nvGraphicFramePr>
        <p:xfrm>
          <a:off x="-519" y="-1"/>
          <a:ext cx="5842713" cy="127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Image" r:id="rId17" imgW="5549040" imgH="1142640" progId="Photoshop.Image.11">
                  <p:embed/>
                </p:oleObj>
              </mc:Choice>
              <mc:Fallback>
                <p:oleObj name="Image" r:id="rId17" imgW="5549040" imgH="1142640" progId="Photoshop.Image.1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-519" y="-1"/>
                        <a:ext cx="5842713" cy="127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5538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79193"/>
            <a:ext cx="1097280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cs typeface="Arial" pitchFamily="34" charset="0"/>
              </a:rPr>
              <a:t>Intimate Partner  </a:t>
            </a:r>
            <a:r>
              <a:rPr lang="en-US" sz="3600" dirty="0">
                <a:cs typeface="Arial" pitchFamily="34" charset="0"/>
              </a:rPr>
              <a:t>Violence</a:t>
            </a:r>
          </a:p>
        </p:txBody>
      </p:sp>
      <p:sp>
        <p:nvSpPr>
          <p:cNvPr id="16387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05012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 sz="2400" dirty="0">
                <a:cs typeface="Arial" charset="0"/>
              </a:rPr>
              <a:t>A pattern of coercive behavior intended to establish and maintain power and control </a:t>
            </a:r>
          </a:p>
          <a:p>
            <a:pPr eaLnBrk="1" hangingPunct="1"/>
            <a:r>
              <a:rPr lang="en-US" altLang="en-US" sz="2400" dirty="0" smtClean="0">
                <a:cs typeface="Arial" charset="0"/>
              </a:rPr>
              <a:t>Abuser may be a current </a:t>
            </a:r>
            <a:r>
              <a:rPr lang="en-US" altLang="en-US" sz="2400" dirty="0">
                <a:cs typeface="Arial" charset="0"/>
              </a:rPr>
              <a:t>or former spouse, family member, intimate partner, or person with whom the perpetrator shares a child in common</a:t>
            </a:r>
          </a:p>
          <a:p>
            <a:pPr eaLnBrk="1" hangingPunct="1"/>
            <a:r>
              <a:rPr lang="en-US" altLang="en-US" sz="2400" dirty="0">
                <a:cs typeface="Arial" charset="0"/>
              </a:rPr>
              <a:t>Composed of many tactics of abuse</a:t>
            </a:r>
          </a:p>
          <a:p>
            <a:pPr eaLnBrk="1" hangingPunct="1"/>
            <a:r>
              <a:rPr lang="en-US" altLang="en-US" sz="2400" dirty="0">
                <a:cs typeface="Arial" charset="0"/>
              </a:rPr>
              <a:t>Not just physical </a:t>
            </a:r>
            <a:r>
              <a:rPr lang="en-US" altLang="en-US" sz="2400" dirty="0" smtClean="0">
                <a:cs typeface="Arial" charset="0"/>
              </a:rPr>
              <a:t> or sexual violence</a:t>
            </a:r>
            <a:r>
              <a:rPr lang="en-US" altLang="en-US" sz="2400" dirty="0">
                <a:cs typeface="Arial" charset="0"/>
              </a:rPr>
              <a:t>:</a:t>
            </a:r>
          </a:p>
          <a:p>
            <a:pPr lvl="1" eaLnBrk="1" hangingPunct="1"/>
            <a:r>
              <a:rPr lang="en-US" altLang="en-US" sz="2000" dirty="0">
                <a:cs typeface="Arial" charset="0"/>
              </a:rPr>
              <a:t>Emotional/psychological</a:t>
            </a:r>
          </a:p>
          <a:p>
            <a:pPr lvl="1" eaLnBrk="1" hangingPunct="1"/>
            <a:r>
              <a:rPr lang="en-US" altLang="en-US" sz="2000" dirty="0">
                <a:cs typeface="Arial" charset="0"/>
              </a:rPr>
              <a:t>Threats to family/friends</a:t>
            </a:r>
          </a:p>
          <a:p>
            <a:pPr lvl="1" eaLnBrk="1" hangingPunct="1"/>
            <a:r>
              <a:rPr lang="en-US" altLang="en-US" sz="2000" dirty="0">
                <a:cs typeface="Arial" charset="0"/>
              </a:rPr>
              <a:t>Threats to property</a:t>
            </a:r>
          </a:p>
          <a:p>
            <a:pPr lvl="1" eaLnBrk="1" hangingPunct="1"/>
            <a:r>
              <a:rPr lang="en-US" altLang="en-US" sz="2000" dirty="0">
                <a:cs typeface="Arial" charset="0"/>
              </a:rPr>
              <a:t>Economic coercion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1EB69A-F684-40DD-B920-F9A32B60B1E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40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1028" descr="DuluthModel_Wome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912" y="2590800"/>
            <a:ext cx="3970288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1029"/>
          <p:cNvSpPr>
            <a:spLocks noChangeArrowheads="1"/>
          </p:cNvSpPr>
          <p:nvPr/>
        </p:nvSpPr>
        <p:spPr bwMode="auto">
          <a:xfrm>
            <a:off x="2129656" y="1393825"/>
            <a:ext cx="7924800" cy="1143000"/>
          </a:xfrm>
          <a:prstGeom prst="rect">
            <a:avLst/>
          </a:prstGeom>
          <a:solidFill>
            <a:schemeClr val="bg2"/>
          </a:solidFill>
          <a:ln w="57150" cmpd="thinThick">
            <a:solidFill>
              <a:schemeClr val="accent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200" u="sng" dirty="0">
                <a:solidFill>
                  <a:prstClr val="black"/>
                </a:solidFill>
                <a:cs typeface="Arial" charset="0"/>
              </a:rPr>
              <a:t>The Power &amp; Control Wheel</a:t>
            </a:r>
            <a:r>
              <a:rPr lang="en-US" sz="3200" dirty="0">
                <a:solidFill>
                  <a:prstClr val="black"/>
                </a:solidFill>
                <a:cs typeface="Arial" charset="0"/>
              </a:rPr>
              <a:t> </a:t>
            </a:r>
          </a:p>
          <a:p>
            <a:pPr algn="ctr"/>
            <a:r>
              <a:rPr lang="en-US" sz="1600" i="1" dirty="0">
                <a:solidFill>
                  <a:prstClr val="black"/>
                </a:solidFill>
                <a:cs typeface="Arial" charset="0"/>
              </a:rPr>
              <a:t>Domestic Abuse Intervention Project - Duluth, Minnesota</a:t>
            </a:r>
          </a:p>
        </p:txBody>
      </p:sp>
      <p:sp>
        <p:nvSpPr>
          <p:cNvPr id="41988" name="Slide Number Placeholder 5"/>
          <p:cNvSpPr txBox="1">
            <a:spLocks noGrp="1"/>
          </p:cNvSpPr>
          <p:nvPr/>
        </p:nvSpPr>
        <p:spPr bwMode="auto">
          <a:xfrm>
            <a:off x="8077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200">
                <a:solidFill>
                  <a:srgbClr val="008000"/>
                </a:solidFill>
                <a:latin typeface="Arial" charset="0"/>
              </a:defRPr>
            </a:lvl1pPr>
            <a:lvl2pPr marL="742950" indent="-285750" eaLnBrk="0" hangingPunct="0">
              <a:defRPr sz="1200">
                <a:solidFill>
                  <a:srgbClr val="008000"/>
                </a:solidFill>
                <a:latin typeface="Arial" charset="0"/>
              </a:defRPr>
            </a:lvl2pPr>
            <a:lvl3pPr marL="1143000" indent="-228600" eaLnBrk="0" hangingPunct="0">
              <a:defRPr sz="1200">
                <a:solidFill>
                  <a:srgbClr val="008000"/>
                </a:solidFill>
                <a:latin typeface="Arial" charset="0"/>
              </a:defRPr>
            </a:lvl3pPr>
            <a:lvl4pPr marL="1600200" indent="-228600" eaLnBrk="0" hangingPunct="0">
              <a:defRPr sz="1200">
                <a:solidFill>
                  <a:srgbClr val="008000"/>
                </a:solidFill>
                <a:latin typeface="Arial" charset="0"/>
              </a:defRPr>
            </a:lvl4pPr>
            <a:lvl5pPr marL="2057400" indent="-228600" eaLnBrk="0" hangingPunct="0">
              <a:defRPr sz="1200">
                <a:solidFill>
                  <a:srgbClr val="008000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50000"/>
              </a:spcBef>
              <a:spcAft>
                <a:spcPct val="0"/>
              </a:spcAft>
              <a:defRPr sz="1200">
                <a:solidFill>
                  <a:srgbClr val="008000"/>
                </a:solidFill>
                <a:latin typeface="Arial" charset="0"/>
              </a:defRPr>
            </a:lvl9pPr>
          </a:lstStyle>
          <a:p>
            <a:pPr algn="r">
              <a:spcBef>
                <a:spcPct val="0"/>
              </a:spcBef>
            </a:pPr>
            <a:fld id="{7C394AC7-7FAA-4F32-A57A-56C1D3C4FBC3}" type="slidenum">
              <a:rPr lang="en-US" sz="1400">
                <a:solidFill>
                  <a:prstClr val="black"/>
                </a:solidFill>
                <a:latin typeface="Times New Roman" pitchFamily="18" charset="0"/>
              </a:rPr>
              <a:pPr algn="r">
                <a:spcBef>
                  <a:spcPct val="0"/>
                </a:spcBef>
              </a:pPr>
              <a:t>2</a:t>
            </a:fld>
            <a:endParaRPr lang="en-US" sz="14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93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752" y="776914"/>
            <a:ext cx="109728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>
                <a:cs typeface="Arial" pitchFamily="34" charset="0"/>
              </a:rPr>
              <a:t>Workplace Impact</a:t>
            </a:r>
            <a:br>
              <a:rPr lang="en-US" sz="4000" dirty="0">
                <a:cs typeface="Arial" pitchFamily="34" charset="0"/>
              </a:rPr>
            </a:br>
            <a:endParaRPr lang="en-US" sz="4000" dirty="0">
              <a:cs typeface="Arial" pitchFamily="34" charset="0"/>
            </a:endParaRP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>
          <a:xfrm>
            <a:off x="699752" y="2005012"/>
            <a:ext cx="10515600" cy="435133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>
                <a:cs typeface="Arial" charset="0"/>
              </a:rPr>
              <a:t>Happens at the workplace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Appearance in the workplace/stalking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Threat, harassing or violent incident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Using work resources to perpetrate</a:t>
            </a:r>
          </a:p>
          <a:p>
            <a:pPr eaLnBrk="1" hangingPunct="1"/>
            <a:r>
              <a:rPr lang="en-US" altLang="en-US" sz="2800" dirty="0">
                <a:cs typeface="Arial" charset="0"/>
              </a:rPr>
              <a:t>Happens somewhere else but affects workplace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Missing work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Needing time off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Performance issues – victim, perpetrator, co-workers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Physical/mental health issues</a:t>
            </a:r>
          </a:p>
          <a:p>
            <a:pPr lvl="1" eaLnBrk="1" hangingPunct="1"/>
            <a:r>
              <a:rPr lang="en-US" altLang="en-US" sz="2400" dirty="0">
                <a:cs typeface="Arial" charset="0"/>
              </a:rPr>
              <a:t>Trauma from previous incident</a:t>
            </a:r>
          </a:p>
          <a:p>
            <a:pPr lvl="1" eaLnBrk="1" hangingPunct="1"/>
            <a:endParaRPr lang="en-US" altLang="en-US" dirty="0" smtClean="0">
              <a:cs typeface="Arial" charset="0"/>
            </a:endParaRPr>
          </a:p>
          <a:p>
            <a:pPr lvl="1" eaLnBrk="1" hangingPunct="1"/>
            <a:endParaRPr lang="en-US" altLang="en-US" dirty="0" smtClean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01EB69A-F684-40DD-B920-F9A32B60B1E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1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1816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Workplace Impact/Costs: Survivors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7574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Of 79% of stalking victims who had a job, one in eight lost time from work.  More than half the victims surveyed lost five or more days from work. </a:t>
            </a:r>
          </a:p>
          <a:p>
            <a:pPr>
              <a:buFont typeface="Wingdings" pitchFamily="2" charset="2"/>
              <a:buNone/>
            </a:pPr>
            <a:r>
              <a:rPr lang="en-US" sz="2400" b="1" dirty="0"/>
              <a:t>				</a:t>
            </a:r>
            <a:r>
              <a:rPr lang="en-US" sz="1400" b="1" dirty="0"/>
              <a:t>	(Baum, Bureau of Justice Statistics, 2009)</a:t>
            </a:r>
          </a:p>
          <a:p>
            <a:r>
              <a:rPr lang="en-US" sz="2000" dirty="0"/>
              <a:t>36% of rape/sexual assault victims lost more than 10 days of work after their victimization. </a:t>
            </a:r>
            <a:r>
              <a:rPr lang="en-US" sz="2400" dirty="0"/>
              <a:t>	</a:t>
            </a:r>
          </a:p>
          <a:p>
            <a:pPr>
              <a:buFont typeface="Wingdings" pitchFamily="2" charset="2"/>
              <a:buNone/>
            </a:pPr>
            <a:r>
              <a:rPr lang="en-US" sz="2400" b="1" dirty="0"/>
              <a:t>					</a:t>
            </a:r>
            <a:r>
              <a:rPr lang="en-US" sz="1400" b="1" dirty="0"/>
              <a:t>(Bureau of Justice Statistics, 2001)</a:t>
            </a:r>
            <a:endParaRPr lang="en-US" sz="1400" dirty="0"/>
          </a:p>
          <a:p>
            <a:r>
              <a:rPr lang="en-US" sz="2000" dirty="0"/>
              <a:t>Victims of intimate partner violence lose 8 million days of work each year. 			</a:t>
            </a:r>
            <a:endParaRPr lang="en-US" sz="2000" b="1" dirty="0"/>
          </a:p>
          <a:p>
            <a:pPr lvl="1"/>
            <a:r>
              <a:rPr lang="en-US" sz="2000" dirty="0"/>
              <a:t>The equivalent of 32,000 full-time jobs </a:t>
            </a:r>
          </a:p>
          <a:p>
            <a:pPr lvl="1"/>
            <a:r>
              <a:rPr lang="en-US" sz="2000" dirty="0"/>
              <a:t>Over 5.5 million days of household productivity</a:t>
            </a:r>
          </a:p>
          <a:p>
            <a:pPr lvl="1">
              <a:buFont typeface="Wingdings 2" pitchFamily="18" charset="2"/>
              <a:buNone/>
            </a:pPr>
            <a:r>
              <a:rPr lang="en-US" sz="1400" b="1" dirty="0"/>
              <a:t>					(Centers for Disease Control and Prevention </a:t>
            </a:r>
            <a:r>
              <a:rPr lang="en-US" sz="1400" b="1" dirty="0" smtClean="0"/>
              <a:t>(</a:t>
            </a:r>
            <a:r>
              <a:rPr lang="en-US" sz="1400" b="1" dirty="0"/>
              <a:t>2003).</a:t>
            </a:r>
            <a:r>
              <a:rPr lang="en-US" sz="1400" b="1" i="1" dirty="0"/>
              <a:t>Costs of Intimate Partner Violence </a:t>
            </a:r>
            <a:r>
              <a:rPr lang="en-US" sz="1400" b="1" i="1" dirty="0" smtClean="0"/>
              <a:t>					Against Women </a:t>
            </a:r>
            <a:r>
              <a:rPr lang="en-US" sz="1400" b="1" i="1" dirty="0"/>
              <a:t>in the United States</a:t>
            </a:r>
            <a:r>
              <a:rPr lang="en-US" sz="1400" b="1" dirty="0"/>
              <a:t>).			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127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9448" y="1254125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Workplace Impact/Costs: Perpetrators </a:t>
            </a:r>
          </a:p>
        </p:txBody>
      </p:sp>
      <p:sp>
        <p:nvSpPr>
          <p:cNvPr id="19459" name="Text Placeholder 2"/>
          <p:cNvSpPr>
            <a:spLocks noGrp="1"/>
          </p:cNvSpPr>
          <p:nvPr>
            <p:ph type="body" idx="1"/>
          </p:nvPr>
        </p:nvSpPr>
        <p:spPr>
          <a:xfrm>
            <a:off x="519448" y="2005012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defRPr/>
            </a:pPr>
            <a:r>
              <a:rPr lang="en-US" sz="2000" b="1" u="sng" dirty="0"/>
              <a:t>Performance</a:t>
            </a:r>
            <a:r>
              <a:rPr lang="en-US" sz="2000" dirty="0"/>
              <a:t>: </a:t>
            </a:r>
          </a:p>
          <a:p>
            <a:pPr lvl="1">
              <a:defRPr/>
            </a:pPr>
            <a:r>
              <a:rPr lang="en-US" sz="2000" dirty="0"/>
              <a:t>80% of perpetrators said their own job performance was negatively affected by their perpetration of domestic violence. </a:t>
            </a:r>
          </a:p>
          <a:p>
            <a:pPr lvl="1">
              <a:defRPr/>
            </a:pPr>
            <a:r>
              <a:rPr lang="en-US" sz="2000" dirty="0"/>
              <a:t>19% caused or almost caused an accident at work. </a:t>
            </a:r>
          </a:p>
          <a:p>
            <a:pPr lvl="1">
              <a:defRPr/>
            </a:pPr>
            <a:r>
              <a:rPr lang="en-US" sz="2000" dirty="0"/>
              <a:t>In many cases supervisors were aware of the perpetrator’s behavior but failed to confront/admonish the employee about it. </a:t>
            </a:r>
          </a:p>
          <a:p>
            <a:pPr marL="366713" lvl="1" indent="0">
              <a:buNone/>
              <a:defRPr/>
            </a:pPr>
            <a:r>
              <a:rPr lang="en-US" sz="1800" b="1" dirty="0"/>
              <a:t>					</a:t>
            </a:r>
            <a:r>
              <a:rPr lang="en-US" sz="1400" b="1" dirty="0"/>
              <a:t>(Schmidt &amp; Barnett, 2012) </a:t>
            </a:r>
          </a:p>
          <a:p>
            <a:pPr marL="0" lvl="1" indent="0">
              <a:spcBef>
                <a:spcPts val="700"/>
              </a:spcBef>
              <a:buClr>
                <a:schemeClr val="accent2"/>
              </a:buClr>
              <a:buSzPct val="60000"/>
              <a:defRPr/>
            </a:pPr>
            <a:r>
              <a:rPr lang="en-US" sz="2000" b="1" u="sng" dirty="0"/>
              <a:t>Missed Work</a:t>
            </a:r>
            <a:r>
              <a:rPr lang="en-US" sz="2000" dirty="0"/>
              <a:t>: </a:t>
            </a:r>
          </a:p>
          <a:p>
            <a:pPr marL="617537" lvl="2" indent="-342900">
              <a:spcBef>
                <a:spcPts val="700"/>
              </a:spcBef>
              <a:buClr>
                <a:schemeClr val="accent1"/>
              </a:buClr>
              <a:buSzPct val="60000"/>
              <a:buFont typeface="Wingdings" pitchFamily="2" charset="2"/>
              <a:buChar char="q"/>
              <a:defRPr/>
            </a:pPr>
            <a:r>
              <a:rPr lang="en-US" sz="2000" dirty="0"/>
              <a:t>Between 42% and 51.8% of perpetrators of domestic violence were either late or missed work entirely because of their abusive behavior.</a:t>
            </a:r>
          </a:p>
          <a:p>
            <a:pPr marL="0" lvl="1" indent="0">
              <a:spcBef>
                <a:spcPts val="700"/>
              </a:spcBef>
              <a:buClr>
                <a:schemeClr val="accent2"/>
              </a:buClr>
              <a:buSzPct val="60000"/>
              <a:defRPr/>
            </a:pPr>
            <a:r>
              <a:rPr lang="en-US" sz="2000" b="1" u="sng" dirty="0"/>
              <a:t>Use of Company Resources</a:t>
            </a:r>
            <a:r>
              <a:rPr lang="en-US" sz="2000" dirty="0"/>
              <a:t>: </a:t>
            </a:r>
          </a:p>
          <a:p>
            <a:pPr lvl="1">
              <a:defRPr/>
            </a:pPr>
            <a:r>
              <a:rPr lang="en-US" sz="2000" dirty="0"/>
              <a:t>More than three-quarters of perpetrators used workplace resources at least once to express remorse or anger, check up on, pressure, or threaten the victim. </a:t>
            </a:r>
          </a:p>
          <a:p>
            <a:pPr marL="685800" lvl="2" indent="0">
              <a:buNone/>
              <a:defRPr/>
            </a:pPr>
            <a:r>
              <a:rPr lang="en-US" sz="1800" b="1" dirty="0"/>
              <a:t>					</a:t>
            </a:r>
            <a:r>
              <a:rPr lang="en-US" sz="1400" b="1" dirty="0"/>
              <a:t>(Lim, et al, 2004)</a:t>
            </a:r>
            <a:endParaRPr lang="en-US" sz="2000" dirty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16644284-426D-45FC-9B01-6B514659766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596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54125"/>
            <a:ext cx="10972800" cy="1143000"/>
          </a:xfrm>
        </p:spPr>
        <p:txBody>
          <a:bodyPr/>
          <a:lstStyle/>
          <a:p>
            <a:pPr>
              <a:defRPr/>
            </a:pPr>
            <a:r>
              <a:rPr lang="en-US" sz="3600" dirty="0"/>
              <a:t>Workplace Impact/Costs: Employers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05012"/>
            <a:ext cx="10515600" cy="4351338"/>
          </a:xfrm>
        </p:spPr>
        <p:txBody>
          <a:bodyPr/>
          <a:lstStyle/>
          <a:p>
            <a:r>
              <a:rPr lang="en-US" sz="2400" b="1" u="sng" dirty="0"/>
              <a:t>Lost Productivity</a:t>
            </a:r>
            <a:r>
              <a:rPr lang="en-US" sz="2400" dirty="0"/>
              <a:t>: The annual cost of lost productivity due to domestic violence is $727.8 million (in 1995 dollars). </a:t>
            </a:r>
          </a:p>
          <a:p>
            <a:pPr>
              <a:buFont typeface="Wingdings" pitchFamily="2" charset="2"/>
              <a:buNone/>
            </a:pPr>
            <a:r>
              <a:rPr lang="en-US" sz="2400" b="1" dirty="0"/>
              <a:t>					</a:t>
            </a:r>
            <a:r>
              <a:rPr lang="en-US" sz="1400" b="1" dirty="0"/>
              <a:t>(CDC, 2003)</a:t>
            </a:r>
          </a:p>
          <a:p>
            <a:r>
              <a:rPr lang="en-US" sz="2400" b="1" u="sng" dirty="0"/>
              <a:t>Medical costs</a:t>
            </a:r>
            <a:r>
              <a:rPr lang="en-US" sz="2400" dirty="0"/>
              <a:t>: The costs of direct medical and mental health care services related to intimate partner violence total nearly $4.1 billion a year. </a:t>
            </a:r>
          </a:p>
          <a:p>
            <a:pPr lvl="1">
              <a:buFont typeface="Wingdings 2" pitchFamily="18" charset="2"/>
              <a:buNone/>
            </a:pPr>
            <a:r>
              <a:rPr lang="en-US" sz="1200" b="1" dirty="0"/>
              <a:t>					</a:t>
            </a:r>
            <a:r>
              <a:rPr lang="en-US" sz="1400" b="1" dirty="0"/>
              <a:t>(CDC, 2003)</a:t>
            </a:r>
          </a:p>
          <a:p>
            <a:r>
              <a:rPr lang="en-US" sz="2400" b="1" u="sng" dirty="0"/>
              <a:t>Security Concerns</a:t>
            </a:r>
            <a:r>
              <a:rPr lang="en-US" sz="2400" b="1" dirty="0"/>
              <a:t>: </a:t>
            </a:r>
            <a:r>
              <a:rPr lang="en-US" sz="2400" dirty="0"/>
              <a:t>94% of corporate security and safety directors at companies nationwide rank domestic violence as a high security concern.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				</a:t>
            </a:r>
            <a:r>
              <a:rPr lang="en-US" sz="1400" dirty="0"/>
              <a:t>	</a:t>
            </a:r>
            <a:r>
              <a:rPr lang="en-US" sz="1400" b="1" dirty="0"/>
              <a:t>(CAEPV, 2008)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08ACFDF-E51A-4EAC-BA11-F021F5C6265C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491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1041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Member-Survivor Concerns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r>
              <a:rPr lang="en-US" dirty="0" smtClean="0"/>
              <a:t>Safety</a:t>
            </a:r>
          </a:p>
          <a:p>
            <a:r>
              <a:rPr lang="en-US" dirty="0" smtClean="0"/>
              <a:t>Job retention</a:t>
            </a:r>
          </a:p>
          <a:p>
            <a:r>
              <a:rPr lang="en-US" dirty="0" smtClean="0"/>
              <a:t>Employer assistance</a:t>
            </a:r>
          </a:p>
          <a:p>
            <a:r>
              <a:rPr lang="en-US" dirty="0" smtClean="0"/>
              <a:t>Time off or other changes</a:t>
            </a:r>
          </a:p>
          <a:p>
            <a:r>
              <a:rPr lang="en-US" dirty="0" smtClean="0"/>
              <a:t>Confidentiality</a:t>
            </a:r>
          </a:p>
          <a:p>
            <a:r>
              <a:rPr lang="en-US" dirty="0" smtClean="0"/>
              <a:t>Reputation/appearance</a:t>
            </a:r>
          </a:p>
          <a:p>
            <a:r>
              <a:rPr lang="en-US" dirty="0" smtClean="0"/>
              <a:t>Financial security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250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Union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The target may be a member</a:t>
            </a:r>
          </a:p>
          <a:p>
            <a:r>
              <a:rPr lang="en-US" dirty="0" smtClean="0"/>
              <a:t>Perpetrator may be a member</a:t>
            </a:r>
          </a:p>
          <a:p>
            <a:r>
              <a:rPr lang="en-US" dirty="0" smtClean="0"/>
              <a:t>Effect on co-workers</a:t>
            </a:r>
          </a:p>
          <a:p>
            <a:r>
              <a:rPr lang="en-US" dirty="0" smtClean="0"/>
              <a:t>Safety of all</a:t>
            </a:r>
          </a:p>
          <a:p>
            <a:r>
              <a:rPr lang="en-US" dirty="0" smtClean="0"/>
              <a:t>Job discipline</a:t>
            </a:r>
          </a:p>
          <a:p>
            <a:r>
              <a:rPr lang="en-US" dirty="0" smtClean="0"/>
              <a:t>Job discharge</a:t>
            </a:r>
          </a:p>
          <a:p>
            <a:r>
              <a:rPr lang="en-US" dirty="0" smtClean="0"/>
              <a:t>Workplace violence</a:t>
            </a:r>
          </a:p>
          <a:p>
            <a:r>
              <a:rPr lang="en-US" dirty="0" smtClean="0"/>
              <a:t>Duty of Fair Representation (DFR) obligations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48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79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Co-Workers Concerns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r>
              <a:rPr lang="en-US" dirty="0" smtClean="0"/>
              <a:t>Safety and trauma</a:t>
            </a:r>
          </a:p>
          <a:p>
            <a:r>
              <a:rPr lang="en-US" dirty="0" smtClean="0"/>
              <a:t>Feeling obligated to assist target</a:t>
            </a:r>
          </a:p>
          <a:p>
            <a:r>
              <a:rPr lang="en-US" dirty="0" smtClean="0"/>
              <a:t>Working effectively</a:t>
            </a:r>
          </a:p>
          <a:p>
            <a:r>
              <a:rPr lang="en-US" dirty="0" smtClean="0"/>
              <a:t>Resentment</a:t>
            </a:r>
          </a:p>
          <a:p>
            <a:r>
              <a:rPr lang="en-US" dirty="0" smtClean="0"/>
              <a:t>Might want to help but not meddle in someone else’s personal business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7839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92404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Comprehensive Workplace Response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Create a supportive workplace culture</a:t>
            </a:r>
          </a:p>
          <a:p>
            <a:r>
              <a:rPr lang="en-US" dirty="0" smtClean="0"/>
              <a:t>Establish a multidisciplinary team</a:t>
            </a:r>
          </a:p>
          <a:p>
            <a:r>
              <a:rPr lang="en-US" dirty="0" smtClean="0"/>
              <a:t>Raise awareness </a:t>
            </a:r>
          </a:p>
          <a:p>
            <a:r>
              <a:rPr lang="en-US" dirty="0" smtClean="0"/>
              <a:t>Assess existing policies/guidelines and CBA agreements</a:t>
            </a:r>
          </a:p>
          <a:p>
            <a:r>
              <a:rPr lang="en-US" dirty="0" smtClean="0"/>
              <a:t>Conduct training </a:t>
            </a:r>
          </a:p>
          <a:p>
            <a:r>
              <a:rPr lang="en-US" dirty="0" smtClean="0"/>
              <a:t>Develop relationships with local service providers and law enforcement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42367-6D31-4C28-805A-92D42C3BF6E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581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468</Words>
  <Application>Microsoft Office PowerPoint</Application>
  <PresentationFormat>Widescreen</PresentationFormat>
  <Paragraphs>108</Paragraphs>
  <Slides>10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Wingdings 2</vt:lpstr>
      <vt:lpstr>Office Theme</vt:lpstr>
      <vt:lpstr>Image</vt:lpstr>
      <vt:lpstr>Intimate Partner  Violence</vt:lpstr>
      <vt:lpstr>PowerPoint Presentation</vt:lpstr>
      <vt:lpstr> Workplace Impact </vt:lpstr>
      <vt:lpstr>Workplace Impact/Costs: Survivors </vt:lpstr>
      <vt:lpstr>Workplace Impact/Costs: Perpetrators </vt:lpstr>
      <vt:lpstr>Workplace Impact/Costs: Employers </vt:lpstr>
      <vt:lpstr>Member-Survivor Concerns </vt:lpstr>
      <vt:lpstr>Union Concerns</vt:lpstr>
      <vt:lpstr>Co-Workers Concerns</vt:lpstr>
      <vt:lpstr>Comprehensive Workplace Response </vt:lpstr>
    </vt:vector>
  </TitlesOfParts>
  <Company>Cornell University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Katrina Noble</dc:creator>
  <cp:lastModifiedBy>Classroom Technologies</cp:lastModifiedBy>
  <cp:revision>3</cp:revision>
  <dcterms:created xsi:type="dcterms:W3CDTF">2015-10-05T14:33:34Z</dcterms:created>
  <dcterms:modified xsi:type="dcterms:W3CDTF">2015-10-06T22:23:38Z</dcterms:modified>
</cp:coreProperties>
</file>